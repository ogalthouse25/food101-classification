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e4ee1ec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e4ee1ec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e4ee1ecb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e4ee1ecb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Owen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e4ee1ecb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e4ee1ecb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Owen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e4ee1ecb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e4ee1ecb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Matthew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e4a6f1d2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e4a6f1d2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Matthew</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e4a6f1d2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e4a6f1d2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Hayden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e7b061c67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e7b061c67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Hayden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e4a6f1d2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e4a6f1d2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Hayden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e4a6f1d2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e4a6f1d2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Shlok</a:t>
            </a:r>
            <a:endParaRPr/>
          </a:p>
          <a:p>
            <a:pPr indent="0" lvl="0" marL="0" rtl="0" algn="l">
              <a:spcBef>
                <a:spcPts val="0"/>
              </a:spcBef>
              <a:spcAft>
                <a:spcPts val="0"/>
              </a:spcAft>
              <a:buNone/>
            </a:pPr>
            <a:r>
              <a:rPr lang="en"/>
              <a:t>In order to check if there was any setup or </a:t>
            </a:r>
            <a:r>
              <a:rPr lang="en"/>
              <a:t>augmentations</a:t>
            </a:r>
            <a:r>
              <a:rPr lang="en"/>
              <a:t> that were limiting our model performance we decided to run the model with the exact same settings as the original article did with all 101 output classes. Since the article claimed an accuracy of over 82% we </a:t>
            </a:r>
            <a:r>
              <a:rPr lang="en"/>
              <a:t>wanted</a:t>
            </a:r>
            <a:r>
              <a:rPr lang="en"/>
              <a:t> to see if we could at least match that. Unfortunately our runs resulted in an accuracy of 56.14% so we decided to just stick with the CNNs that we had trained with our own settings.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e7b061c6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e7b061c6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Shlok</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e7b061c67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e7b061c67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Shlok</a:t>
            </a:r>
            <a:endParaRPr/>
          </a:p>
          <a:p>
            <a:pPr indent="0" lvl="0" marL="0" rtl="0" algn="l">
              <a:spcBef>
                <a:spcPts val="0"/>
              </a:spcBef>
              <a:spcAft>
                <a:spcPts val="0"/>
              </a:spcAft>
              <a:buNone/>
            </a:pPr>
            <a:r>
              <a:rPr lang="en"/>
              <a:t>24 before rate limit issues,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e4a6f1d2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e4a6f1d2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Lilly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e7b061c6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e7b061c6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Lilly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e4a6f1d2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e4a6f1d2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Lilly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e7b061c6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e7b061c6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1" Type="http://schemas.openxmlformats.org/officeDocument/2006/relationships/hyperlink" Target="https://arxiv.org/abs/2106.11776" TargetMode="External"/><Relationship Id="rId10" Type="http://schemas.openxmlformats.org/officeDocument/2006/relationships/hyperlink" Target="https://techcrunch.com/2025/03/16/photo-calorie-app-cal-ai-downloaded-over-a-million-times-was-built-by-two-teenagers/" TargetMode="External"/><Relationship Id="rId13" Type="http://schemas.openxmlformats.org/officeDocument/2006/relationships/hyperlink" Target="https://medium.com/@yashpaliwal42/understanding-retrieval-augmented-generation-rag-in-generative-ai-an-overview-914ef820d0f0" TargetMode="External"/><Relationship Id="rId12" Type="http://schemas.openxmlformats.org/officeDocument/2006/relationships/hyperlink" Target="https://arxiv.org/abs/2503.18997" TargetMode="External"/><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cdc.gov/nchs/products/databriefs/db508.htm" TargetMode="External"/><Relationship Id="rId4" Type="http://schemas.openxmlformats.org/officeDocument/2006/relationships/hyperlink" Target="https://www.cityhealthdashboard.com/NC/Charlotte/metric-detail?metricId=17&amp;dataPeriod=2022" TargetMode="External"/><Relationship Id="rId9" Type="http://schemas.openxmlformats.org/officeDocument/2006/relationships/hyperlink" Target="https://www.calai.app/" TargetMode="External"/><Relationship Id="rId5" Type="http://schemas.openxmlformats.org/officeDocument/2006/relationships/hyperlink" Target="https://engineering.nyu.edu/news/ai-food-scanner-turns-phone-photos-nutritional-analysis" TargetMode="External"/><Relationship Id="rId6" Type="http://schemas.openxmlformats.org/officeDocument/2006/relationships/hyperlink" Target="https://academic.oup.com/nutritionreviews/article/83/2/e574/7667651" TargetMode="External"/><Relationship Id="rId7" Type="http://schemas.openxmlformats.org/officeDocument/2006/relationships/hyperlink" Target="https://www.foodvisor.io/en/" TargetMode="External"/><Relationship Id="rId8" Type="http://schemas.openxmlformats.org/officeDocument/2006/relationships/hyperlink" Target="https://www.foodvisor.io/en/guides/article/food-image-recognition-explaine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0" y="1349825"/>
            <a:ext cx="9144000" cy="2133600"/>
          </a:xfrm>
          <a:prstGeom prst="rect">
            <a:avLst/>
          </a:prstGeom>
        </p:spPr>
        <p:txBody>
          <a:bodyPr anchorCtr="0" anchor="t" bIns="91425" lIns="91425" spcFirstLastPara="1" rIns="91425" wrap="square" tIns="91425">
            <a:noAutofit/>
          </a:bodyPr>
          <a:lstStyle/>
          <a:p>
            <a:pPr indent="457200" lvl="0" marL="0" rtl="0" algn="ctr">
              <a:lnSpc>
                <a:spcPct val="115000"/>
              </a:lnSpc>
              <a:spcBef>
                <a:spcPts val="0"/>
              </a:spcBef>
              <a:spcAft>
                <a:spcPts val="0"/>
              </a:spcAft>
              <a:buClr>
                <a:schemeClr val="dk1"/>
              </a:buClr>
              <a:buSzPts val="1100"/>
              <a:buFont typeface="Arial"/>
              <a:buNone/>
            </a:pPr>
            <a:r>
              <a:rPr b="1" lang="en" sz="2900">
                <a:latin typeface="Times New Roman"/>
                <a:ea typeface="Times New Roman"/>
                <a:cs typeface="Times New Roman"/>
                <a:sym typeface="Times New Roman"/>
              </a:rPr>
              <a:t>Personalized Diet Assistant: Data Collection and Feasibility Analysis to Tailor Nutritional Support</a:t>
            </a:r>
            <a:endParaRPr b="1" sz="29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 sz="1700">
                <a:latin typeface="Times New Roman"/>
                <a:ea typeface="Times New Roman"/>
                <a:cs typeface="Times New Roman"/>
                <a:sym typeface="Times New Roman"/>
              </a:rPr>
              <a:t>  </a:t>
            </a:r>
            <a:endParaRPr b="1" sz="17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b="1" lang="en" sz="1700">
                <a:latin typeface="Times New Roman"/>
                <a:ea typeface="Times New Roman"/>
                <a:cs typeface="Times New Roman"/>
                <a:sym typeface="Times New Roman"/>
              </a:rPr>
              <a:t>UNCC DSBA 6165 - AI and Deep Learning</a:t>
            </a:r>
            <a:endParaRPr b="1" sz="17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t/>
            </a:r>
            <a:endParaRPr sz="17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t/>
            </a:r>
            <a:endParaRPr sz="17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87" name="Google Shape;87;p13"/>
          <p:cNvSpPr txBox="1"/>
          <p:nvPr>
            <p:ph idx="1" type="subTitle"/>
          </p:nvPr>
        </p:nvSpPr>
        <p:spPr>
          <a:xfrm>
            <a:off x="727952" y="3579300"/>
            <a:ext cx="7688100" cy="541200"/>
          </a:xfrm>
          <a:prstGeom prst="rect">
            <a:avLst/>
          </a:prstGeom>
        </p:spPr>
        <p:txBody>
          <a:bodyPr anchorCtr="0" anchor="t" bIns="91425" lIns="91425" spcFirstLastPara="1" rIns="91425" wrap="square" tIns="91425">
            <a:normAutofit fontScale="70000" lnSpcReduction="20000"/>
          </a:bodyPr>
          <a:lstStyle/>
          <a:p>
            <a:pPr indent="0" lvl="0" marL="0" rtl="0" algn="ctr">
              <a:lnSpc>
                <a:spcPct val="115000"/>
              </a:lnSpc>
              <a:spcBef>
                <a:spcPts val="0"/>
              </a:spcBef>
              <a:spcAft>
                <a:spcPts val="0"/>
              </a:spcAft>
              <a:buClr>
                <a:schemeClr val="dk1"/>
              </a:buClr>
              <a:buSzPct val="64706"/>
              <a:buFont typeface="Arial"/>
              <a:buNone/>
            </a:pPr>
            <a:r>
              <a:rPr b="1" lang="en" sz="1700">
                <a:solidFill>
                  <a:srgbClr val="666666"/>
                </a:solidFill>
                <a:latin typeface="Times New Roman"/>
                <a:ea typeface="Times New Roman"/>
                <a:cs typeface="Times New Roman"/>
                <a:sym typeface="Times New Roman"/>
              </a:rPr>
              <a:t>Jack Callahan, Owen Althouse, Matthew Rostar, Shlok Yeolekar, Lillian Bowling, Hayden</a:t>
            </a:r>
            <a:endParaRPr b="1" sz="1700">
              <a:solidFill>
                <a:srgbClr val="666666"/>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ct val="64706"/>
              <a:buFont typeface="Arial"/>
              <a:buNone/>
            </a:pPr>
            <a:r>
              <a:rPr b="1" lang="en" sz="1700">
                <a:solidFill>
                  <a:srgbClr val="666666"/>
                </a:solidFill>
                <a:latin typeface="Times New Roman"/>
                <a:ea typeface="Times New Roman"/>
                <a:cs typeface="Times New Roman"/>
                <a:sym typeface="Times New Roman"/>
              </a:rPr>
              <a:t>Williford</a:t>
            </a:r>
            <a:endParaRPr>
              <a:solidFill>
                <a:srgbClr val="6666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Motivation and Purpose</a:t>
            </a:r>
            <a:endParaRPr>
              <a:latin typeface="Times New Roman"/>
              <a:ea typeface="Times New Roman"/>
              <a:cs typeface="Times New Roman"/>
              <a:sym typeface="Times New Roman"/>
            </a:endParaRPr>
          </a:p>
        </p:txBody>
      </p:sp>
      <p:sp>
        <p:nvSpPr>
          <p:cNvPr id="93" name="Google Shape;93;p14"/>
          <p:cNvSpPr txBox="1"/>
          <p:nvPr>
            <p:ph idx="1" type="body"/>
          </p:nvPr>
        </p:nvSpPr>
        <p:spPr>
          <a:xfrm>
            <a:off x="729450" y="2078875"/>
            <a:ext cx="7688700" cy="2936400"/>
          </a:xfrm>
          <a:prstGeom prst="rect">
            <a:avLst/>
          </a:prstGeom>
        </p:spPr>
        <p:txBody>
          <a:bodyPr anchorCtr="0" anchor="t" bIns="91425" lIns="91425" spcFirstLastPara="1" rIns="91425" wrap="square" tIns="91425">
            <a:normAutofit/>
          </a:bodyPr>
          <a:lstStyle/>
          <a:p>
            <a:pPr indent="-342900" lvl="0" marL="457200" rtl="0" algn="l">
              <a:lnSpc>
                <a:spcPct val="12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Initial</a:t>
            </a:r>
            <a:r>
              <a:rPr lang="en" sz="1800">
                <a:latin typeface="Times New Roman"/>
                <a:ea typeface="Times New Roman"/>
                <a:cs typeface="Times New Roman"/>
                <a:sym typeface="Times New Roman"/>
              </a:rPr>
              <a:t> goal was to create a personalized AI-powered dietary assistant that recommends meals, nutritional choices, and a grocery list based on user profiles, health goals, and personal preferences</a:t>
            </a:r>
            <a:endParaRPr sz="1800">
              <a:latin typeface="Times New Roman"/>
              <a:ea typeface="Times New Roman"/>
              <a:cs typeface="Times New Roman"/>
              <a:sym typeface="Times New Roman"/>
            </a:endParaRPr>
          </a:p>
          <a:p>
            <a:pPr indent="-342900" lvl="0" marL="457200" rtl="0" algn="l">
              <a:lnSpc>
                <a:spcPct val="12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As the project scope became more refined and narrow, it evolved into exploring image classification convolutional neural networks (CNN) to identify food labels from images of food.</a:t>
            </a:r>
            <a:endParaRPr sz="1800">
              <a:latin typeface="Times New Roman"/>
              <a:ea typeface="Times New Roman"/>
              <a:cs typeface="Times New Roman"/>
              <a:sym typeface="Times New Roman"/>
            </a:endParaRPr>
          </a:p>
          <a:p>
            <a:pPr indent="-342900" lvl="0" marL="457200" rtl="0" algn="l">
              <a:lnSpc>
                <a:spcPct val="12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motivation </a:t>
            </a:r>
            <a:r>
              <a:rPr lang="en" sz="1800">
                <a:latin typeface="Times New Roman"/>
                <a:ea typeface="Times New Roman"/>
                <a:cs typeface="Times New Roman"/>
                <a:sym typeface="Times New Roman"/>
              </a:rPr>
              <a:t>remains</a:t>
            </a:r>
            <a:r>
              <a:rPr lang="en" sz="1800">
                <a:latin typeface="Times New Roman"/>
                <a:ea typeface="Times New Roman"/>
                <a:cs typeface="Times New Roman"/>
                <a:sym typeface="Times New Roman"/>
              </a:rPr>
              <a:t> the same. To improve long-term public health and fight obesity by helping users make better decisions about their nutrition.</a:t>
            </a:r>
            <a:endParaRPr sz="1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Project 3 </a:t>
            </a:r>
            <a:r>
              <a:rPr lang="en">
                <a:latin typeface="Times New Roman"/>
                <a:ea typeface="Times New Roman"/>
                <a:cs typeface="Times New Roman"/>
                <a:sym typeface="Times New Roman"/>
              </a:rPr>
              <a:t>Initial</a:t>
            </a:r>
            <a:r>
              <a:rPr lang="en">
                <a:latin typeface="Times New Roman"/>
                <a:ea typeface="Times New Roman"/>
                <a:cs typeface="Times New Roman"/>
                <a:sym typeface="Times New Roman"/>
              </a:rPr>
              <a:t> CNNs </a:t>
            </a:r>
            <a:endParaRPr>
              <a:latin typeface="Times New Roman"/>
              <a:ea typeface="Times New Roman"/>
              <a:cs typeface="Times New Roman"/>
              <a:sym typeface="Times New Roman"/>
            </a:endParaRPr>
          </a:p>
        </p:txBody>
      </p:sp>
      <p:sp>
        <p:nvSpPr>
          <p:cNvPr id="99" name="Google Shape;99;p15"/>
          <p:cNvSpPr txBox="1"/>
          <p:nvPr>
            <p:ph idx="1" type="body"/>
          </p:nvPr>
        </p:nvSpPr>
        <p:spPr>
          <a:xfrm>
            <a:off x="729450" y="1938900"/>
            <a:ext cx="3842700" cy="2784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a:latin typeface="Times New Roman"/>
                <a:ea typeface="Times New Roman"/>
                <a:cs typeface="Times New Roman"/>
                <a:sym typeface="Times New Roman"/>
              </a:rPr>
              <a:t>MobileNetV2 Model</a:t>
            </a:r>
            <a:endParaRPr sz="1600">
              <a:latin typeface="Times New Roman"/>
              <a:ea typeface="Times New Roman"/>
              <a:cs typeface="Times New Roman"/>
              <a:sym typeface="Times New Roman"/>
            </a:endParaRPr>
          </a:p>
          <a:p>
            <a:pPr indent="-330200" lvl="0" marL="457200" rtl="0" algn="l">
              <a:lnSpc>
                <a:spcPct val="150000"/>
              </a:lnSpc>
              <a:spcBef>
                <a:spcPts val="1200"/>
              </a:spcBef>
              <a:spcAft>
                <a:spcPts val="0"/>
              </a:spcAft>
              <a:buSzPts val="1600"/>
              <a:buFont typeface="Times New Roman"/>
              <a:buChar char="●"/>
            </a:pPr>
            <a:r>
              <a:rPr lang="en" sz="1600">
                <a:latin typeface="Times New Roman"/>
                <a:ea typeface="Times New Roman"/>
                <a:cs typeface="Times New Roman"/>
                <a:sym typeface="Times New Roman"/>
              </a:rPr>
              <a:t>Training </a:t>
            </a:r>
            <a:r>
              <a:rPr lang="en" sz="1600">
                <a:latin typeface="Times New Roman"/>
                <a:ea typeface="Times New Roman"/>
                <a:cs typeface="Times New Roman"/>
                <a:sym typeface="Times New Roman"/>
              </a:rPr>
              <a:t>accuracy</a:t>
            </a:r>
            <a:r>
              <a:rPr lang="en" sz="1600">
                <a:latin typeface="Times New Roman"/>
                <a:ea typeface="Times New Roman"/>
                <a:cs typeface="Times New Roman"/>
                <a:sym typeface="Times New Roman"/>
              </a:rPr>
              <a:t> of 79.15% </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Testing accuracy of 74.35%</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2 Hidden Layers</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128x128 Resolution</a:t>
            </a:r>
            <a:endParaRPr sz="1600">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t/>
            </a:r>
            <a:endParaRPr sz="1600">
              <a:latin typeface="Times New Roman"/>
              <a:ea typeface="Times New Roman"/>
              <a:cs typeface="Times New Roman"/>
              <a:sym typeface="Times New Roman"/>
            </a:endParaRPr>
          </a:p>
        </p:txBody>
      </p:sp>
      <p:sp>
        <p:nvSpPr>
          <p:cNvPr id="100" name="Google Shape;100;p15"/>
          <p:cNvSpPr txBox="1"/>
          <p:nvPr>
            <p:ph idx="1" type="body"/>
          </p:nvPr>
        </p:nvSpPr>
        <p:spPr>
          <a:xfrm>
            <a:off x="4894000" y="1938900"/>
            <a:ext cx="3842700" cy="2784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sz="1600">
                <a:latin typeface="Times New Roman"/>
                <a:ea typeface="Times New Roman"/>
                <a:cs typeface="Times New Roman"/>
                <a:sym typeface="Times New Roman"/>
              </a:rPr>
              <a:t>ResNet50</a:t>
            </a:r>
            <a:r>
              <a:rPr b="1" lang="en" sz="1600">
                <a:latin typeface="Times New Roman"/>
                <a:ea typeface="Times New Roman"/>
                <a:cs typeface="Times New Roman"/>
                <a:sym typeface="Times New Roman"/>
              </a:rPr>
              <a:t> Model</a:t>
            </a:r>
            <a:endParaRPr b="1" sz="1600">
              <a:latin typeface="Times New Roman"/>
              <a:ea typeface="Times New Roman"/>
              <a:cs typeface="Times New Roman"/>
              <a:sym typeface="Times New Roman"/>
            </a:endParaRPr>
          </a:p>
          <a:p>
            <a:pPr indent="-330200" lvl="0" marL="457200" rtl="0" algn="l">
              <a:lnSpc>
                <a:spcPct val="150000"/>
              </a:lnSpc>
              <a:spcBef>
                <a:spcPts val="1200"/>
              </a:spcBef>
              <a:spcAft>
                <a:spcPts val="0"/>
              </a:spcAft>
              <a:buSzPts val="1600"/>
              <a:buFont typeface="Times New Roman"/>
              <a:buChar char="●"/>
            </a:pPr>
            <a:r>
              <a:rPr lang="en" sz="1600">
                <a:latin typeface="Times New Roman"/>
                <a:ea typeface="Times New Roman"/>
                <a:cs typeface="Times New Roman"/>
                <a:sym typeface="Times New Roman"/>
              </a:rPr>
              <a:t>T</a:t>
            </a:r>
            <a:r>
              <a:rPr lang="en" sz="1600">
                <a:latin typeface="Times New Roman"/>
                <a:ea typeface="Times New Roman"/>
                <a:cs typeface="Times New Roman"/>
                <a:sym typeface="Times New Roman"/>
              </a:rPr>
              <a:t>raining accuracy of 79.80% </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Testing accuracy of 72.09%</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2 Hidden Layers</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128x128 Resolution</a:t>
            </a:r>
            <a:endParaRPr sz="1600">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t/>
            </a:r>
            <a:endParaRPr sz="1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Potential Model Improvements</a:t>
            </a:r>
            <a:endParaRPr>
              <a:latin typeface="Times New Roman"/>
              <a:ea typeface="Times New Roman"/>
              <a:cs typeface="Times New Roman"/>
              <a:sym typeface="Times New Roman"/>
            </a:endParaRPr>
          </a:p>
        </p:txBody>
      </p:sp>
      <p:sp>
        <p:nvSpPr>
          <p:cNvPr id="106" name="Google Shape;106;p16"/>
          <p:cNvSpPr txBox="1"/>
          <p:nvPr>
            <p:ph idx="1" type="body"/>
          </p:nvPr>
        </p:nvSpPr>
        <p:spPr>
          <a:xfrm>
            <a:off x="729450" y="1950575"/>
            <a:ext cx="7688700" cy="2691300"/>
          </a:xfrm>
          <a:prstGeom prst="rect">
            <a:avLst/>
          </a:prstGeom>
        </p:spPr>
        <p:txBody>
          <a:bodyPr anchorCtr="0" anchor="t" bIns="91425" lIns="91425" spcFirstLastPara="1" rIns="91425" wrap="square" tIns="91425">
            <a:noAutofit/>
          </a:bodyPr>
          <a:lstStyle/>
          <a:p>
            <a:pPr indent="-317183" lvl="0" marL="457200" rtl="0" algn="l">
              <a:lnSpc>
                <a:spcPct val="140000"/>
              </a:lnSpc>
              <a:spcBef>
                <a:spcPts val="0"/>
              </a:spcBef>
              <a:spcAft>
                <a:spcPts val="0"/>
              </a:spcAft>
              <a:buSzPts val="1395"/>
              <a:buFont typeface="Times New Roman"/>
              <a:buChar char="●"/>
            </a:pPr>
            <a:r>
              <a:rPr b="1" lang="en" sz="1395">
                <a:latin typeface="Times New Roman"/>
                <a:ea typeface="Times New Roman"/>
                <a:cs typeface="Times New Roman"/>
                <a:sym typeface="Times New Roman"/>
              </a:rPr>
              <a:t>Learning Rate</a:t>
            </a:r>
            <a:r>
              <a:rPr b="1" lang="en" sz="1395">
                <a:latin typeface="Times New Roman"/>
                <a:ea typeface="Times New Roman"/>
                <a:cs typeface="Times New Roman"/>
                <a:sym typeface="Times New Roman"/>
              </a:rPr>
              <a:t>:</a:t>
            </a:r>
            <a:endParaRPr b="1" sz="1395">
              <a:latin typeface="Times New Roman"/>
              <a:ea typeface="Times New Roman"/>
              <a:cs typeface="Times New Roman"/>
              <a:sym typeface="Times New Roman"/>
            </a:endParaRPr>
          </a:p>
          <a:p>
            <a:pPr indent="-317182" lvl="1" marL="914400" rtl="0" algn="l">
              <a:lnSpc>
                <a:spcPct val="140000"/>
              </a:lnSpc>
              <a:spcBef>
                <a:spcPts val="0"/>
              </a:spcBef>
              <a:spcAft>
                <a:spcPts val="0"/>
              </a:spcAft>
              <a:buSzPts val="1395"/>
              <a:buFont typeface="Times New Roman"/>
              <a:buChar char="○"/>
            </a:pPr>
            <a:r>
              <a:rPr lang="en" sz="1395">
                <a:latin typeface="Times New Roman"/>
                <a:ea typeface="Times New Roman"/>
                <a:cs typeface="Times New Roman"/>
                <a:sym typeface="Times New Roman"/>
              </a:rPr>
              <a:t>Previous</a:t>
            </a:r>
            <a:r>
              <a:rPr lang="en" sz="1395">
                <a:latin typeface="Times New Roman"/>
                <a:ea typeface="Times New Roman"/>
                <a:cs typeface="Times New Roman"/>
                <a:sym typeface="Times New Roman"/>
              </a:rPr>
              <a:t> models used a learning rate of 0.001</a:t>
            </a:r>
            <a:endParaRPr sz="1395">
              <a:latin typeface="Times New Roman"/>
              <a:ea typeface="Times New Roman"/>
              <a:cs typeface="Times New Roman"/>
              <a:sym typeface="Times New Roman"/>
            </a:endParaRPr>
          </a:p>
          <a:p>
            <a:pPr indent="-317183" lvl="0" marL="457200" rtl="0" algn="l">
              <a:lnSpc>
                <a:spcPct val="140000"/>
              </a:lnSpc>
              <a:spcBef>
                <a:spcPts val="0"/>
              </a:spcBef>
              <a:spcAft>
                <a:spcPts val="0"/>
              </a:spcAft>
              <a:buSzPts val="1395"/>
              <a:buFont typeface="Times New Roman"/>
              <a:buChar char="●"/>
            </a:pPr>
            <a:r>
              <a:rPr b="1" lang="en" sz="1395">
                <a:latin typeface="Times New Roman"/>
                <a:ea typeface="Times New Roman"/>
                <a:cs typeface="Times New Roman"/>
                <a:sym typeface="Times New Roman"/>
              </a:rPr>
              <a:t>L2 Weight Regularization</a:t>
            </a:r>
            <a:r>
              <a:rPr b="1" lang="en" sz="1395">
                <a:latin typeface="Times New Roman"/>
                <a:ea typeface="Times New Roman"/>
                <a:cs typeface="Times New Roman"/>
                <a:sym typeface="Times New Roman"/>
              </a:rPr>
              <a:t>:</a:t>
            </a:r>
            <a:endParaRPr b="1" sz="1395">
              <a:latin typeface="Times New Roman"/>
              <a:ea typeface="Times New Roman"/>
              <a:cs typeface="Times New Roman"/>
              <a:sym typeface="Times New Roman"/>
            </a:endParaRPr>
          </a:p>
          <a:p>
            <a:pPr indent="-317182" lvl="1" marL="914400" rtl="0" algn="l">
              <a:lnSpc>
                <a:spcPct val="140000"/>
              </a:lnSpc>
              <a:spcBef>
                <a:spcPts val="0"/>
              </a:spcBef>
              <a:spcAft>
                <a:spcPts val="0"/>
              </a:spcAft>
              <a:buSzPts val="1395"/>
              <a:buFont typeface="Times New Roman"/>
              <a:buChar char="○"/>
            </a:pPr>
            <a:r>
              <a:rPr lang="en" sz="1395">
                <a:latin typeface="Times New Roman"/>
                <a:ea typeface="Times New Roman"/>
                <a:cs typeface="Times New Roman"/>
                <a:sym typeface="Times New Roman"/>
              </a:rPr>
              <a:t>L2 weight regularization to prevents overfitting by adding a penalty to the model's loss function, proportional to the sum of the squares of its weights (coefficients)</a:t>
            </a:r>
            <a:endParaRPr sz="1395">
              <a:latin typeface="Times New Roman"/>
              <a:ea typeface="Times New Roman"/>
              <a:cs typeface="Times New Roman"/>
              <a:sym typeface="Times New Roman"/>
            </a:endParaRPr>
          </a:p>
          <a:p>
            <a:pPr indent="-317183" lvl="0" marL="457200" rtl="0" algn="l">
              <a:lnSpc>
                <a:spcPct val="140000"/>
              </a:lnSpc>
              <a:spcBef>
                <a:spcPts val="0"/>
              </a:spcBef>
              <a:spcAft>
                <a:spcPts val="0"/>
              </a:spcAft>
              <a:buSzPts val="1395"/>
              <a:buFont typeface="Times New Roman"/>
              <a:buChar char="●"/>
            </a:pPr>
            <a:r>
              <a:rPr b="1" lang="en" sz="1395">
                <a:latin typeface="Times New Roman"/>
                <a:ea typeface="Times New Roman"/>
                <a:cs typeface="Times New Roman"/>
                <a:sym typeface="Times New Roman"/>
              </a:rPr>
              <a:t>Dropout:</a:t>
            </a:r>
            <a:endParaRPr b="1" sz="1395">
              <a:latin typeface="Times New Roman"/>
              <a:ea typeface="Times New Roman"/>
              <a:cs typeface="Times New Roman"/>
              <a:sym typeface="Times New Roman"/>
            </a:endParaRPr>
          </a:p>
          <a:p>
            <a:pPr indent="-317182" lvl="1" marL="914400" rtl="0" algn="l">
              <a:lnSpc>
                <a:spcPct val="140000"/>
              </a:lnSpc>
              <a:spcBef>
                <a:spcPts val="0"/>
              </a:spcBef>
              <a:spcAft>
                <a:spcPts val="0"/>
              </a:spcAft>
              <a:buSzPts val="1395"/>
              <a:buFont typeface="Times New Roman"/>
              <a:buChar char="○"/>
            </a:pPr>
            <a:r>
              <a:rPr lang="en" sz="1395">
                <a:latin typeface="Times New Roman"/>
                <a:ea typeface="Times New Roman"/>
                <a:cs typeface="Times New Roman"/>
                <a:sym typeface="Times New Roman"/>
              </a:rPr>
              <a:t>Prevents overfitting by randomly disabling (dropping out) neurons during training</a:t>
            </a:r>
            <a:endParaRPr sz="1395">
              <a:latin typeface="Times New Roman"/>
              <a:ea typeface="Times New Roman"/>
              <a:cs typeface="Times New Roman"/>
              <a:sym typeface="Times New Roman"/>
            </a:endParaRPr>
          </a:p>
          <a:p>
            <a:pPr indent="-317183" lvl="0" marL="457200" rtl="0" algn="l">
              <a:lnSpc>
                <a:spcPct val="140000"/>
              </a:lnSpc>
              <a:spcBef>
                <a:spcPts val="0"/>
              </a:spcBef>
              <a:spcAft>
                <a:spcPts val="0"/>
              </a:spcAft>
              <a:buSzPts val="1395"/>
              <a:buFont typeface="Times New Roman"/>
              <a:buChar char="●"/>
            </a:pPr>
            <a:r>
              <a:rPr b="1" lang="en" sz="1395">
                <a:latin typeface="Times New Roman"/>
                <a:ea typeface="Times New Roman"/>
                <a:cs typeface="Times New Roman"/>
                <a:sym typeface="Times New Roman"/>
              </a:rPr>
              <a:t>Increase Image Resolution </a:t>
            </a:r>
            <a:endParaRPr b="1" sz="1395">
              <a:latin typeface="Times New Roman"/>
              <a:ea typeface="Times New Roman"/>
              <a:cs typeface="Times New Roman"/>
              <a:sym typeface="Times New Roman"/>
            </a:endParaRPr>
          </a:p>
          <a:p>
            <a:pPr indent="-317182" lvl="1" marL="914400" rtl="0" algn="l">
              <a:lnSpc>
                <a:spcPct val="140000"/>
              </a:lnSpc>
              <a:spcBef>
                <a:spcPts val="0"/>
              </a:spcBef>
              <a:spcAft>
                <a:spcPts val="0"/>
              </a:spcAft>
              <a:buSzPts val="1395"/>
              <a:buFont typeface="Times New Roman"/>
              <a:buChar char="○"/>
            </a:pPr>
            <a:r>
              <a:rPr lang="en" sz="1395">
                <a:latin typeface="Times New Roman"/>
                <a:ea typeface="Times New Roman"/>
                <a:cs typeface="Times New Roman"/>
                <a:sym typeface="Times New Roman"/>
              </a:rPr>
              <a:t>128x128 increased to model maximum of 224x224</a:t>
            </a:r>
            <a:endParaRPr sz="1395">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Basic CNN Model</a:t>
            </a:r>
            <a:endParaRPr>
              <a:latin typeface="Times New Roman"/>
              <a:ea typeface="Times New Roman"/>
              <a:cs typeface="Times New Roman"/>
              <a:sym typeface="Times New Roman"/>
            </a:endParaRPr>
          </a:p>
        </p:txBody>
      </p:sp>
      <p:sp>
        <p:nvSpPr>
          <p:cNvPr id="112" name="Google Shape;112;p17"/>
          <p:cNvSpPr txBox="1"/>
          <p:nvPr>
            <p:ph idx="1" type="body"/>
          </p:nvPr>
        </p:nvSpPr>
        <p:spPr>
          <a:xfrm>
            <a:off x="729450" y="2078875"/>
            <a:ext cx="3842400" cy="2261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Model contained 19 total layers, including softmax output layer</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Learning rate of 0.0005</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Dropout of 0.5</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Batch Normalization</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ReLU activation function </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Trained for 10 epochs</a:t>
            </a:r>
            <a:endParaRPr sz="1600">
              <a:latin typeface="Times New Roman"/>
              <a:ea typeface="Times New Roman"/>
              <a:cs typeface="Times New Roman"/>
              <a:sym typeface="Times New Roman"/>
            </a:endParaRPr>
          </a:p>
        </p:txBody>
      </p:sp>
      <p:pic>
        <p:nvPicPr>
          <p:cNvPr id="113" name="Google Shape;113;p17"/>
          <p:cNvPicPr preferRelativeResize="0"/>
          <p:nvPr/>
        </p:nvPicPr>
        <p:blipFill>
          <a:blip r:embed="rId3">
            <a:alphaModFix/>
          </a:blip>
          <a:stretch>
            <a:fillRect/>
          </a:stretch>
        </p:blipFill>
        <p:spPr>
          <a:xfrm>
            <a:off x="3960375" y="1976375"/>
            <a:ext cx="2398934" cy="1925075"/>
          </a:xfrm>
          <a:prstGeom prst="rect">
            <a:avLst/>
          </a:prstGeom>
          <a:noFill/>
          <a:ln>
            <a:noFill/>
          </a:ln>
        </p:spPr>
      </p:pic>
      <p:pic>
        <p:nvPicPr>
          <p:cNvPr id="114" name="Google Shape;114;p17"/>
          <p:cNvPicPr preferRelativeResize="0"/>
          <p:nvPr/>
        </p:nvPicPr>
        <p:blipFill>
          <a:blip r:embed="rId4">
            <a:alphaModFix/>
          </a:blip>
          <a:stretch>
            <a:fillRect/>
          </a:stretch>
        </p:blipFill>
        <p:spPr>
          <a:xfrm>
            <a:off x="6511709" y="1943900"/>
            <a:ext cx="2479891" cy="19900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Learning Rate</a:t>
            </a:r>
            <a:r>
              <a:rPr lang="en"/>
              <a:t> </a:t>
            </a:r>
            <a:r>
              <a:rPr lang="en">
                <a:latin typeface="Times New Roman"/>
                <a:ea typeface="Times New Roman"/>
                <a:cs typeface="Times New Roman"/>
                <a:sym typeface="Times New Roman"/>
              </a:rPr>
              <a:t>0.001 → 0.0005</a:t>
            </a:r>
            <a:endParaRPr>
              <a:latin typeface="Times New Roman"/>
              <a:ea typeface="Times New Roman"/>
              <a:cs typeface="Times New Roman"/>
              <a:sym typeface="Times New Roman"/>
            </a:endParaRPr>
          </a:p>
        </p:txBody>
      </p:sp>
      <p:sp>
        <p:nvSpPr>
          <p:cNvPr id="120" name="Google Shape;120;p18"/>
          <p:cNvSpPr txBox="1"/>
          <p:nvPr>
            <p:ph idx="1" type="body"/>
          </p:nvPr>
        </p:nvSpPr>
        <p:spPr>
          <a:xfrm>
            <a:off x="74750" y="1921200"/>
            <a:ext cx="3244500" cy="3222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A0A0A"/>
              </a:buClr>
              <a:buSzPts val="1600"/>
              <a:buFont typeface="Times New Roman"/>
              <a:buChar char="-"/>
            </a:pPr>
            <a:r>
              <a:rPr lang="en" sz="1600">
                <a:solidFill>
                  <a:srgbClr val="0A0A0A"/>
                </a:solidFill>
                <a:latin typeface="Times New Roman"/>
                <a:ea typeface="Times New Roman"/>
                <a:cs typeface="Times New Roman"/>
                <a:sym typeface="Times New Roman"/>
              </a:rPr>
              <a:t>Testing </a:t>
            </a:r>
            <a:r>
              <a:rPr lang="en" sz="1600">
                <a:solidFill>
                  <a:srgbClr val="0A0A0A"/>
                </a:solidFill>
                <a:latin typeface="Times New Roman"/>
                <a:ea typeface="Times New Roman"/>
                <a:cs typeface="Times New Roman"/>
                <a:sym typeface="Times New Roman"/>
              </a:rPr>
              <a:t>Dataset</a:t>
            </a:r>
            <a:r>
              <a:rPr lang="en" sz="1600">
                <a:solidFill>
                  <a:srgbClr val="0A0A0A"/>
                </a:solidFill>
                <a:latin typeface="Times New Roman"/>
                <a:ea typeface="Times New Roman"/>
                <a:cs typeface="Times New Roman"/>
                <a:sym typeface="Times New Roman"/>
              </a:rPr>
              <a:t> </a:t>
            </a:r>
            <a:r>
              <a:rPr lang="en" sz="1600">
                <a:solidFill>
                  <a:srgbClr val="0A0A0A"/>
                </a:solidFill>
                <a:latin typeface="Times New Roman"/>
                <a:ea typeface="Times New Roman"/>
                <a:cs typeface="Times New Roman"/>
                <a:sym typeface="Times New Roman"/>
              </a:rPr>
              <a:t>accuracy of </a:t>
            </a:r>
            <a:r>
              <a:rPr b="1" lang="en" sz="1600">
                <a:solidFill>
                  <a:srgbClr val="0A0A0A"/>
                </a:solidFill>
                <a:latin typeface="Times New Roman"/>
                <a:ea typeface="Times New Roman"/>
                <a:cs typeface="Times New Roman"/>
                <a:sym typeface="Times New Roman"/>
              </a:rPr>
              <a:t>72.97%</a:t>
            </a:r>
            <a:endParaRPr b="1" sz="1600">
              <a:solidFill>
                <a:srgbClr val="0A0A0A"/>
              </a:solidFill>
              <a:latin typeface="Times New Roman"/>
              <a:ea typeface="Times New Roman"/>
              <a:cs typeface="Times New Roman"/>
              <a:sym typeface="Times New Roman"/>
            </a:endParaRPr>
          </a:p>
          <a:p>
            <a:pPr indent="-330200" lvl="0" marL="457200" rtl="0" algn="l">
              <a:spcBef>
                <a:spcPts val="0"/>
              </a:spcBef>
              <a:spcAft>
                <a:spcPts val="0"/>
              </a:spcAft>
              <a:buClr>
                <a:srgbClr val="0A0A0A"/>
              </a:buClr>
              <a:buSzPts val="1600"/>
              <a:buFont typeface="Times New Roman"/>
              <a:buChar char="-"/>
            </a:pPr>
            <a:r>
              <a:rPr lang="en" sz="1600">
                <a:solidFill>
                  <a:srgbClr val="0A0A0A"/>
                </a:solidFill>
                <a:latin typeface="Times New Roman"/>
                <a:ea typeface="Times New Roman"/>
                <a:cs typeface="Times New Roman"/>
                <a:sym typeface="Times New Roman"/>
              </a:rPr>
              <a:t>Training was ~95% showing signs of high memorization</a:t>
            </a:r>
            <a:endParaRPr sz="1600">
              <a:solidFill>
                <a:srgbClr val="0A0A0A"/>
              </a:solidFill>
              <a:latin typeface="Times New Roman"/>
              <a:ea typeface="Times New Roman"/>
              <a:cs typeface="Times New Roman"/>
              <a:sym typeface="Times New Roman"/>
            </a:endParaRPr>
          </a:p>
          <a:p>
            <a:pPr indent="-330200" lvl="0" marL="457200" rtl="0" algn="l">
              <a:spcBef>
                <a:spcPts val="0"/>
              </a:spcBef>
              <a:spcAft>
                <a:spcPts val="0"/>
              </a:spcAft>
              <a:buClr>
                <a:srgbClr val="0A0A0A"/>
              </a:buClr>
              <a:buSzPts val="1600"/>
              <a:buFont typeface="Times New Roman"/>
              <a:buChar char="-"/>
            </a:pPr>
            <a:r>
              <a:rPr lang="en" sz="1600">
                <a:solidFill>
                  <a:srgbClr val="0A0A0A"/>
                </a:solidFill>
                <a:latin typeface="Times New Roman"/>
                <a:ea typeface="Times New Roman"/>
                <a:cs typeface="Times New Roman"/>
                <a:sym typeface="Times New Roman"/>
              </a:rPr>
              <a:t>Lowering the </a:t>
            </a:r>
            <a:r>
              <a:rPr lang="en" sz="1600">
                <a:solidFill>
                  <a:srgbClr val="0A0A0A"/>
                </a:solidFill>
                <a:latin typeface="Times New Roman"/>
                <a:ea typeface="Times New Roman"/>
                <a:cs typeface="Times New Roman"/>
                <a:sym typeface="Times New Roman"/>
              </a:rPr>
              <a:t>learning</a:t>
            </a:r>
            <a:r>
              <a:rPr lang="en" sz="1600">
                <a:solidFill>
                  <a:srgbClr val="0A0A0A"/>
                </a:solidFill>
                <a:latin typeface="Times New Roman"/>
                <a:ea typeface="Times New Roman"/>
                <a:cs typeface="Times New Roman"/>
                <a:sym typeface="Times New Roman"/>
              </a:rPr>
              <a:t> rate did not improve generalization </a:t>
            </a:r>
            <a:endParaRPr sz="1600">
              <a:solidFill>
                <a:srgbClr val="0A0A0A"/>
              </a:solidFill>
              <a:latin typeface="Times New Roman"/>
              <a:ea typeface="Times New Roman"/>
              <a:cs typeface="Times New Roman"/>
              <a:sym typeface="Times New Roman"/>
            </a:endParaRPr>
          </a:p>
          <a:p>
            <a:pPr indent="-330200" lvl="0" marL="457200" rtl="0" algn="l">
              <a:spcBef>
                <a:spcPts val="0"/>
              </a:spcBef>
              <a:spcAft>
                <a:spcPts val="0"/>
              </a:spcAft>
              <a:buClr>
                <a:srgbClr val="0A0A0A"/>
              </a:buClr>
              <a:buSzPts val="1600"/>
              <a:buFont typeface="Times New Roman"/>
              <a:buChar char="-"/>
            </a:pPr>
            <a:r>
              <a:rPr lang="en" sz="1600">
                <a:solidFill>
                  <a:srgbClr val="0A0A0A"/>
                </a:solidFill>
                <a:latin typeface="Times New Roman"/>
                <a:ea typeface="Times New Roman"/>
                <a:cs typeface="Times New Roman"/>
                <a:sym typeface="Times New Roman"/>
              </a:rPr>
              <a:t>4th epoch was when model performed the best on validation data</a:t>
            </a:r>
            <a:endParaRPr sz="1600">
              <a:solidFill>
                <a:srgbClr val="0A0A0A"/>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rgbClr val="0A0A0A"/>
              </a:solidFill>
            </a:endParaRPr>
          </a:p>
        </p:txBody>
      </p:sp>
      <p:pic>
        <p:nvPicPr>
          <p:cNvPr id="121" name="Google Shape;121;p18"/>
          <p:cNvPicPr preferRelativeResize="0"/>
          <p:nvPr/>
        </p:nvPicPr>
        <p:blipFill>
          <a:blip r:embed="rId3">
            <a:alphaModFix/>
          </a:blip>
          <a:stretch>
            <a:fillRect/>
          </a:stretch>
        </p:blipFill>
        <p:spPr>
          <a:xfrm>
            <a:off x="3319250" y="2119325"/>
            <a:ext cx="5779799" cy="2429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192525"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Weight Regularization</a:t>
            </a:r>
            <a:endParaRPr>
              <a:latin typeface="Times New Roman"/>
              <a:ea typeface="Times New Roman"/>
              <a:cs typeface="Times New Roman"/>
              <a:sym typeface="Times New Roman"/>
            </a:endParaRPr>
          </a:p>
        </p:txBody>
      </p:sp>
      <p:pic>
        <p:nvPicPr>
          <p:cNvPr id="127" name="Google Shape;127;p19"/>
          <p:cNvPicPr preferRelativeResize="0"/>
          <p:nvPr/>
        </p:nvPicPr>
        <p:blipFill>
          <a:blip r:embed="rId3">
            <a:alphaModFix/>
          </a:blip>
          <a:stretch>
            <a:fillRect/>
          </a:stretch>
        </p:blipFill>
        <p:spPr>
          <a:xfrm>
            <a:off x="3602025" y="2078800"/>
            <a:ext cx="5541976" cy="2143275"/>
          </a:xfrm>
          <a:prstGeom prst="rect">
            <a:avLst/>
          </a:prstGeom>
          <a:noFill/>
          <a:ln>
            <a:noFill/>
          </a:ln>
        </p:spPr>
      </p:pic>
      <p:sp>
        <p:nvSpPr>
          <p:cNvPr id="128" name="Google Shape;128;p19"/>
          <p:cNvSpPr txBox="1"/>
          <p:nvPr>
            <p:ph idx="1" type="body"/>
          </p:nvPr>
        </p:nvSpPr>
        <p:spPr>
          <a:xfrm>
            <a:off x="192525" y="1853850"/>
            <a:ext cx="3409500" cy="32223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en" sz="1500">
                <a:solidFill>
                  <a:srgbClr val="000000"/>
                </a:solidFill>
                <a:latin typeface="Times New Roman"/>
                <a:ea typeface="Times New Roman"/>
                <a:cs typeface="Times New Roman"/>
                <a:sym typeface="Times New Roman"/>
              </a:rPr>
              <a:t>L2 Weight Regularization, LR 0.0005</a:t>
            </a:r>
            <a:endParaRPr sz="1500">
              <a:solidFill>
                <a:srgbClr val="000000"/>
              </a:solidFill>
              <a:latin typeface="Times New Roman"/>
              <a:ea typeface="Times New Roman"/>
              <a:cs typeface="Times New Roman"/>
              <a:sym typeface="Times New Roman"/>
            </a:endParaRPr>
          </a:p>
          <a:p>
            <a:pPr indent="-323850" lvl="0" marL="457200" rtl="0" algn="l">
              <a:lnSpc>
                <a:spcPct val="100000"/>
              </a:lnSpc>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Test accuracy: </a:t>
            </a:r>
            <a:r>
              <a:rPr b="1" lang="en" sz="1500">
                <a:solidFill>
                  <a:srgbClr val="000000"/>
                </a:solidFill>
                <a:latin typeface="Times New Roman"/>
                <a:ea typeface="Times New Roman"/>
                <a:cs typeface="Times New Roman"/>
                <a:sym typeface="Times New Roman"/>
              </a:rPr>
              <a:t>73.28%</a:t>
            </a:r>
            <a:endParaRPr sz="1500">
              <a:solidFill>
                <a:srgbClr val="000000"/>
              </a:solidFill>
              <a:latin typeface="Times New Roman"/>
              <a:ea typeface="Times New Roman"/>
              <a:cs typeface="Times New Roman"/>
              <a:sym typeface="Times New Roman"/>
            </a:endParaRPr>
          </a:p>
          <a:p>
            <a:pPr indent="-323850" lvl="0" marL="457200" rtl="0" algn="l">
              <a:lnSpc>
                <a:spcPct val="10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Encourages smoother, simpler models</a:t>
            </a:r>
            <a:endParaRPr sz="1500">
              <a:solidFill>
                <a:srgbClr val="000000"/>
              </a:solidFill>
              <a:latin typeface="Times New Roman"/>
              <a:ea typeface="Times New Roman"/>
              <a:cs typeface="Times New Roman"/>
              <a:sym typeface="Times New Roman"/>
            </a:endParaRPr>
          </a:p>
          <a:p>
            <a:pPr indent="-323850" lvl="0" marL="457200" rtl="0" algn="l">
              <a:lnSpc>
                <a:spcPct val="10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Applied using Kernel Regularizer in both hidden layers of MobileNetV2 fine-tuning</a:t>
            </a:r>
            <a:endParaRPr b="1" sz="1500">
              <a:solidFill>
                <a:srgbClr val="000000"/>
              </a:solidFill>
              <a:latin typeface="Times New Roman"/>
              <a:ea typeface="Times New Roman"/>
              <a:cs typeface="Times New Roman"/>
              <a:sym typeface="Times New Roman"/>
            </a:endParaRPr>
          </a:p>
          <a:p>
            <a:pPr indent="-323850" lvl="0" marL="457200" rtl="0" algn="l">
              <a:lnSpc>
                <a:spcPct val="10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Validation loss did not drop below 1.25 which is worse than model without L2 regularization</a:t>
            </a:r>
            <a:endParaRPr sz="15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p>
            <a:pPr indent="0" lvl="0" marL="0" rtl="0" algn="l">
              <a:spcBef>
                <a:spcPts val="1200"/>
              </a:spcBef>
              <a:spcAft>
                <a:spcPts val="1200"/>
              </a:spcAft>
              <a:buNone/>
            </a:pPr>
            <a:r>
              <a:t/>
            </a: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192525"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Weight Regularization</a:t>
            </a:r>
            <a:endParaRPr>
              <a:latin typeface="Times New Roman"/>
              <a:ea typeface="Times New Roman"/>
              <a:cs typeface="Times New Roman"/>
              <a:sym typeface="Times New Roman"/>
            </a:endParaRPr>
          </a:p>
        </p:txBody>
      </p:sp>
      <p:sp>
        <p:nvSpPr>
          <p:cNvPr id="134" name="Google Shape;134;p20"/>
          <p:cNvSpPr txBox="1"/>
          <p:nvPr>
            <p:ph idx="1" type="body"/>
          </p:nvPr>
        </p:nvSpPr>
        <p:spPr>
          <a:xfrm>
            <a:off x="192525" y="1853850"/>
            <a:ext cx="3300600" cy="32223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500">
                <a:solidFill>
                  <a:srgbClr val="000000"/>
                </a:solidFill>
                <a:latin typeface="Times New Roman"/>
                <a:ea typeface="Times New Roman"/>
                <a:cs typeface="Times New Roman"/>
                <a:sym typeface="Times New Roman"/>
              </a:rPr>
              <a:t>L2 Weight Regularization, LR 0.001</a:t>
            </a:r>
            <a:endParaRPr sz="15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5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Test accuracy: </a:t>
            </a:r>
            <a:r>
              <a:rPr b="1" lang="en" sz="1500">
                <a:solidFill>
                  <a:srgbClr val="000000"/>
                </a:solidFill>
                <a:latin typeface="Times New Roman"/>
                <a:ea typeface="Times New Roman"/>
                <a:cs typeface="Times New Roman"/>
                <a:sym typeface="Times New Roman"/>
              </a:rPr>
              <a:t>73.66%</a:t>
            </a:r>
            <a:endParaRPr sz="15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Trained for 9 epochs </a:t>
            </a:r>
            <a:endParaRPr b="1" sz="15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Increasing the learning rate only had minimal increase on accuracy</a:t>
            </a:r>
            <a:endParaRPr sz="15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Validation loss had little improvement and validation accuracy never improved during training</a:t>
            </a:r>
            <a:endParaRPr/>
          </a:p>
        </p:txBody>
      </p:sp>
      <p:pic>
        <p:nvPicPr>
          <p:cNvPr id="135" name="Google Shape;135;p20"/>
          <p:cNvPicPr preferRelativeResize="0"/>
          <p:nvPr/>
        </p:nvPicPr>
        <p:blipFill>
          <a:blip r:embed="rId3">
            <a:alphaModFix/>
          </a:blip>
          <a:stretch>
            <a:fillRect/>
          </a:stretch>
        </p:blipFill>
        <p:spPr>
          <a:xfrm>
            <a:off x="3493125" y="1911600"/>
            <a:ext cx="5650876" cy="2489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Dropout</a:t>
            </a:r>
            <a:endParaRPr>
              <a:latin typeface="Times New Roman"/>
              <a:ea typeface="Times New Roman"/>
              <a:cs typeface="Times New Roman"/>
              <a:sym typeface="Times New Roman"/>
            </a:endParaRPr>
          </a:p>
        </p:txBody>
      </p:sp>
      <p:sp>
        <p:nvSpPr>
          <p:cNvPr id="141" name="Google Shape;141;p21"/>
          <p:cNvSpPr txBox="1"/>
          <p:nvPr>
            <p:ph idx="1" type="body"/>
          </p:nvPr>
        </p:nvSpPr>
        <p:spPr>
          <a:xfrm>
            <a:off x="729450" y="1891425"/>
            <a:ext cx="4391700" cy="3252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500">
                <a:solidFill>
                  <a:srgbClr val="000000"/>
                </a:solidFill>
                <a:latin typeface="Times New Roman"/>
                <a:ea typeface="Times New Roman"/>
                <a:cs typeface="Times New Roman"/>
                <a:sym typeface="Times New Roman"/>
              </a:rPr>
              <a:t>50% Dropout Rate.</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Model trained for all 10 epochs</a:t>
            </a:r>
            <a:endParaRPr sz="1500">
              <a:solidFill>
                <a:srgbClr val="000000"/>
              </a:solidFill>
              <a:latin typeface="Times New Roman"/>
              <a:ea typeface="Times New Roman"/>
              <a:cs typeface="Times New Roman"/>
              <a:sym typeface="Times New Roman"/>
            </a:endParaRPr>
          </a:p>
          <a:p>
            <a:pPr indent="-323850" lvl="1" marL="9144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Continuous Improvement </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Test </a:t>
            </a:r>
            <a:r>
              <a:rPr lang="en" sz="1500">
                <a:solidFill>
                  <a:srgbClr val="000000"/>
                </a:solidFill>
                <a:latin typeface="Times New Roman"/>
                <a:ea typeface="Times New Roman"/>
                <a:cs typeface="Times New Roman"/>
                <a:sym typeface="Times New Roman"/>
              </a:rPr>
              <a:t>accuracy: </a:t>
            </a:r>
            <a:r>
              <a:rPr b="1" lang="en" sz="1500">
                <a:solidFill>
                  <a:srgbClr val="000000"/>
                </a:solidFill>
                <a:latin typeface="Times New Roman"/>
                <a:ea typeface="Times New Roman"/>
                <a:cs typeface="Times New Roman"/>
                <a:sym typeface="Times New Roman"/>
              </a:rPr>
              <a:t>74.23%</a:t>
            </a:r>
            <a:endParaRPr b="1"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Equivalent to Baseline Model at 128x128 Resolution</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Training and validation loss improved moderately every epoch</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Training accuracy peaks at ~80% </a:t>
            </a:r>
            <a:endParaRPr sz="1500">
              <a:solidFill>
                <a:srgbClr val="000000"/>
              </a:solidFill>
              <a:latin typeface="Times New Roman"/>
              <a:ea typeface="Times New Roman"/>
              <a:cs typeface="Times New Roman"/>
              <a:sym typeface="Times New Roman"/>
            </a:endParaRPr>
          </a:p>
          <a:p>
            <a:pPr indent="-323850" lvl="1" marL="9144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15% less than other models </a:t>
            </a:r>
            <a:endParaRPr sz="1500">
              <a:solidFill>
                <a:srgbClr val="000000"/>
              </a:solidFill>
              <a:latin typeface="Times New Roman"/>
              <a:ea typeface="Times New Roman"/>
              <a:cs typeface="Times New Roman"/>
              <a:sym typeface="Times New Roman"/>
            </a:endParaRPr>
          </a:p>
        </p:txBody>
      </p:sp>
      <p:pic>
        <p:nvPicPr>
          <p:cNvPr id="142" name="Google Shape;142;p21"/>
          <p:cNvPicPr preferRelativeResize="0"/>
          <p:nvPr/>
        </p:nvPicPr>
        <p:blipFill>
          <a:blip r:embed="rId3">
            <a:alphaModFix/>
          </a:blip>
          <a:stretch>
            <a:fillRect/>
          </a:stretch>
        </p:blipFill>
        <p:spPr>
          <a:xfrm>
            <a:off x="5121152" y="609750"/>
            <a:ext cx="2978224" cy="2367050"/>
          </a:xfrm>
          <a:prstGeom prst="rect">
            <a:avLst/>
          </a:prstGeom>
          <a:noFill/>
          <a:ln>
            <a:noFill/>
          </a:ln>
        </p:spPr>
      </p:pic>
      <p:pic>
        <p:nvPicPr>
          <p:cNvPr id="143" name="Google Shape;143;p21"/>
          <p:cNvPicPr preferRelativeResize="0"/>
          <p:nvPr/>
        </p:nvPicPr>
        <p:blipFill>
          <a:blip r:embed="rId4">
            <a:alphaModFix/>
          </a:blip>
          <a:stretch>
            <a:fillRect/>
          </a:stretch>
        </p:blipFill>
        <p:spPr>
          <a:xfrm>
            <a:off x="5121150" y="2836786"/>
            <a:ext cx="2978225" cy="23067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Complete 101 Output Model</a:t>
            </a:r>
            <a:endParaRPr>
              <a:latin typeface="Times New Roman"/>
              <a:ea typeface="Times New Roman"/>
              <a:cs typeface="Times New Roman"/>
              <a:sym typeface="Times New Roman"/>
            </a:endParaRPr>
          </a:p>
        </p:txBody>
      </p:sp>
      <p:pic>
        <p:nvPicPr>
          <p:cNvPr id="149" name="Google Shape;149;p22"/>
          <p:cNvPicPr preferRelativeResize="0"/>
          <p:nvPr/>
        </p:nvPicPr>
        <p:blipFill>
          <a:blip r:embed="rId3">
            <a:alphaModFix/>
          </a:blip>
          <a:stretch>
            <a:fillRect/>
          </a:stretch>
        </p:blipFill>
        <p:spPr>
          <a:xfrm>
            <a:off x="2722175" y="2758450"/>
            <a:ext cx="2919775" cy="2330025"/>
          </a:xfrm>
          <a:prstGeom prst="rect">
            <a:avLst/>
          </a:prstGeom>
          <a:noFill/>
          <a:ln>
            <a:noFill/>
          </a:ln>
        </p:spPr>
      </p:pic>
      <p:pic>
        <p:nvPicPr>
          <p:cNvPr id="150" name="Google Shape;150;p22"/>
          <p:cNvPicPr preferRelativeResize="0"/>
          <p:nvPr/>
        </p:nvPicPr>
        <p:blipFill>
          <a:blip r:embed="rId4">
            <a:alphaModFix/>
          </a:blip>
          <a:stretch>
            <a:fillRect/>
          </a:stretch>
        </p:blipFill>
        <p:spPr>
          <a:xfrm>
            <a:off x="5641950" y="2695525"/>
            <a:ext cx="3134574" cy="2392950"/>
          </a:xfrm>
          <a:prstGeom prst="rect">
            <a:avLst/>
          </a:prstGeom>
          <a:noFill/>
          <a:ln>
            <a:noFill/>
          </a:ln>
        </p:spPr>
      </p:pic>
      <p:sp>
        <p:nvSpPr>
          <p:cNvPr id="151" name="Google Shape;151;p22"/>
          <p:cNvSpPr txBox="1"/>
          <p:nvPr/>
        </p:nvSpPr>
        <p:spPr>
          <a:xfrm>
            <a:off x="729450" y="1860925"/>
            <a:ext cx="4912500" cy="1265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accent1"/>
              </a:buClr>
              <a:buSzPts val="1800"/>
              <a:buFont typeface="Lato"/>
              <a:buChar char="-"/>
            </a:pPr>
            <a:r>
              <a:rPr lang="en" sz="1500">
                <a:latin typeface="Times New Roman"/>
                <a:ea typeface="Times New Roman"/>
                <a:cs typeface="Times New Roman"/>
                <a:sym typeface="Times New Roman"/>
              </a:rPr>
              <a:t>Model tested at original settings</a:t>
            </a:r>
            <a:endParaRPr sz="1500">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accent1"/>
              </a:buClr>
              <a:buSzPts val="1500"/>
              <a:buFont typeface="Times New Roman"/>
              <a:buChar char="-"/>
            </a:pPr>
            <a:r>
              <a:rPr lang="en" sz="1500">
                <a:latin typeface="Times New Roman"/>
                <a:ea typeface="Times New Roman"/>
                <a:cs typeface="Times New Roman"/>
                <a:sym typeface="Times New Roman"/>
              </a:rPr>
              <a:t>Testing accuracy of 56.14%</a:t>
            </a:r>
            <a:endParaRPr sz="1500">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accent1"/>
              </a:buClr>
              <a:buSzPts val="1500"/>
              <a:buFont typeface="Times New Roman"/>
              <a:buChar char="-"/>
            </a:pPr>
            <a:r>
              <a:rPr lang="en" sz="1500">
                <a:latin typeface="Times New Roman"/>
                <a:ea typeface="Times New Roman"/>
                <a:cs typeface="Times New Roman"/>
                <a:sym typeface="Times New Roman"/>
              </a:rPr>
              <a:t>Recommended accuracy of 82.74%</a:t>
            </a:r>
            <a:endParaRPr sz="15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5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LLM Image Classification</a:t>
            </a:r>
            <a:endParaRPr>
              <a:latin typeface="Times New Roman"/>
              <a:ea typeface="Times New Roman"/>
              <a:cs typeface="Times New Roman"/>
              <a:sym typeface="Times New Roman"/>
            </a:endParaRPr>
          </a:p>
        </p:txBody>
      </p:sp>
      <p:sp>
        <p:nvSpPr>
          <p:cNvPr id="157" name="Google Shape;157;p23"/>
          <p:cNvSpPr txBox="1"/>
          <p:nvPr>
            <p:ph idx="1" type="body"/>
          </p:nvPr>
        </p:nvSpPr>
        <p:spPr>
          <a:xfrm>
            <a:off x="729450" y="2078875"/>
            <a:ext cx="3842400" cy="2261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Gemini 2.5 Flash-Lite</a:t>
            </a:r>
            <a:endParaRPr sz="1500">
              <a:solidFill>
                <a:srgbClr val="0A0A0A"/>
              </a:solidFill>
              <a:latin typeface="Times New Roman"/>
              <a:ea typeface="Times New Roman"/>
              <a:cs typeface="Times New Roman"/>
              <a:sym typeface="Times New Roman"/>
            </a:endParaRPr>
          </a:p>
          <a:p>
            <a:pPr indent="-323850" lvl="0" marL="457200" rtl="0" algn="l">
              <a:spcBef>
                <a:spcPts val="100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Same testing dataset and labels</a:t>
            </a:r>
            <a:endParaRPr sz="1500">
              <a:solidFill>
                <a:srgbClr val="0A0A0A"/>
              </a:solidFill>
              <a:latin typeface="Times New Roman"/>
              <a:ea typeface="Times New Roman"/>
              <a:cs typeface="Times New Roman"/>
              <a:sym typeface="Times New Roman"/>
            </a:endParaRPr>
          </a:p>
          <a:p>
            <a:pPr indent="-323850" lvl="0" marL="457200" rtl="0" algn="l">
              <a:spcBef>
                <a:spcPts val="100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Testing accuracy of 98%</a:t>
            </a:r>
            <a:endParaRPr sz="1500">
              <a:solidFill>
                <a:srgbClr val="0A0A0A"/>
              </a:solidFill>
              <a:latin typeface="Times New Roman"/>
              <a:ea typeface="Times New Roman"/>
              <a:cs typeface="Times New Roman"/>
              <a:sym typeface="Times New Roman"/>
            </a:endParaRPr>
          </a:p>
          <a:p>
            <a:pPr indent="-323850" lvl="0" marL="457200" rtl="0" algn="l">
              <a:spcBef>
                <a:spcPts val="100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Accuracy was worse without labels. </a:t>
            </a:r>
            <a:endParaRPr sz="1500">
              <a:solidFill>
                <a:srgbClr val="0A0A0A"/>
              </a:solidFill>
              <a:latin typeface="Times New Roman"/>
              <a:ea typeface="Times New Roman"/>
              <a:cs typeface="Times New Roman"/>
              <a:sym typeface="Times New Roman"/>
            </a:endParaRPr>
          </a:p>
          <a:p>
            <a:pPr indent="-323850" lvl="1" marL="914400" rtl="0" algn="l">
              <a:spcBef>
                <a:spcPts val="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Most Common Guess: “Plate” </a:t>
            </a:r>
            <a:endParaRPr sz="1500">
              <a:solidFill>
                <a:srgbClr val="0A0A0A"/>
              </a:solidFill>
              <a:latin typeface="Times New Roman"/>
              <a:ea typeface="Times New Roman"/>
              <a:cs typeface="Times New Roman"/>
              <a:sym typeface="Times New Roman"/>
            </a:endParaRPr>
          </a:p>
        </p:txBody>
      </p:sp>
      <p:pic>
        <p:nvPicPr>
          <p:cNvPr id="158" name="Google Shape;158;p23"/>
          <p:cNvPicPr preferRelativeResize="0"/>
          <p:nvPr/>
        </p:nvPicPr>
        <p:blipFill>
          <a:blip r:embed="rId3">
            <a:alphaModFix/>
          </a:blip>
          <a:stretch>
            <a:fillRect/>
          </a:stretch>
        </p:blipFill>
        <p:spPr>
          <a:xfrm>
            <a:off x="4990850" y="1408408"/>
            <a:ext cx="3716125" cy="247741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Nutrition Information Estimation</a:t>
            </a:r>
            <a:endParaRPr/>
          </a:p>
        </p:txBody>
      </p:sp>
      <p:pic>
        <p:nvPicPr>
          <p:cNvPr id="164" name="Google Shape;164;p24"/>
          <p:cNvPicPr preferRelativeResize="0"/>
          <p:nvPr/>
        </p:nvPicPr>
        <p:blipFill rotWithShape="1">
          <a:blip r:embed="rId3">
            <a:alphaModFix/>
          </a:blip>
          <a:srcRect b="0" l="0" r="1264" t="0"/>
          <a:stretch/>
        </p:blipFill>
        <p:spPr>
          <a:xfrm>
            <a:off x="2253525" y="1853850"/>
            <a:ext cx="4636975" cy="3130950"/>
          </a:xfrm>
          <a:prstGeom prst="rect">
            <a:avLst/>
          </a:prstGeom>
          <a:noFill/>
          <a:ln>
            <a:noFill/>
          </a:ln>
        </p:spPr>
      </p:pic>
      <p:cxnSp>
        <p:nvCxnSpPr>
          <p:cNvPr id="165" name="Google Shape;165;p24"/>
          <p:cNvCxnSpPr/>
          <p:nvPr/>
        </p:nvCxnSpPr>
        <p:spPr>
          <a:xfrm flipH="1" rot="10800000">
            <a:off x="2710625" y="2188400"/>
            <a:ext cx="1544100" cy="2477400"/>
          </a:xfrm>
          <a:prstGeom prst="straightConnector1">
            <a:avLst/>
          </a:prstGeom>
          <a:noFill/>
          <a:ln cap="flat" cmpd="sng" w="9525">
            <a:solidFill>
              <a:srgbClr val="FF9900"/>
            </a:solidFill>
            <a:prstDash val="solid"/>
            <a:round/>
            <a:headEnd len="med" w="med" type="none"/>
            <a:tailEnd len="med" w="med" type="none"/>
          </a:ln>
        </p:spPr>
      </p:cxnSp>
      <p:cxnSp>
        <p:nvCxnSpPr>
          <p:cNvPr id="166" name="Google Shape;166;p24"/>
          <p:cNvCxnSpPr/>
          <p:nvPr/>
        </p:nvCxnSpPr>
        <p:spPr>
          <a:xfrm>
            <a:off x="7243100" y="4521375"/>
            <a:ext cx="411000" cy="0"/>
          </a:xfrm>
          <a:prstGeom prst="straightConnector1">
            <a:avLst/>
          </a:prstGeom>
          <a:noFill/>
          <a:ln cap="flat" cmpd="sng" w="19050">
            <a:solidFill>
              <a:srgbClr val="FF9900"/>
            </a:solidFill>
            <a:prstDash val="solid"/>
            <a:round/>
            <a:headEnd len="med" w="med" type="none"/>
            <a:tailEnd len="med" w="med" type="none"/>
          </a:ln>
        </p:spPr>
      </p:cxnSp>
      <p:sp>
        <p:nvSpPr>
          <p:cNvPr id="167" name="Google Shape;167;p24"/>
          <p:cNvSpPr txBox="1"/>
          <p:nvPr/>
        </p:nvSpPr>
        <p:spPr>
          <a:xfrm>
            <a:off x="7765250" y="4253775"/>
            <a:ext cx="10527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Expected Prediction</a:t>
            </a:r>
            <a:endParaRPr sz="13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173" name="Google Shape;173;p25"/>
          <p:cNvSpPr txBox="1"/>
          <p:nvPr>
            <p:ph idx="1" type="body"/>
          </p:nvPr>
        </p:nvSpPr>
        <p:spPr>
          <a:xfrm>
            <a:off x="729450" y="1891425"/>
            <a:ext cx="7688700" cy="3252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Dropout increased model performance the most</a:t>
            </a:r>
            <a:endParaRPr sz="1500">
              <a:solidFill>
                <a:srgbClr val="000000"/>
              </a:solidFill>
              <a:latin typeface="Times New Roman"/>
              <a:ea typeface="Times New Roman"/>
              <a:cs typeface="Times New Roman"/>
              <a:sym typeface="Times New Roman"/>
            </a:endParaRPr>
          </a:p>
          <a:p>
            <a:pPr indent="-323850" lvl="1" marL="9144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Longer training could have </a:t>
            </a:r>
            <a:r>
              <a:rPr lang="en" sz="1500">
                <a:solidFill>
                  <a:srgbClr val="000000"/>
                </a:solidFill>
                <a:latin typeface="Times New Roman"/>
                <a:ea typeface="Times New Roman"/>
                <a:cs typeface="Times New Roman"/>
                <a:sym typeface="Times New Roman"/>
              </a:rPr>
              <a:t>additional</a:t>
            </a:r>
            <a:r>
              <a:rPr lang="en" sz="1500">
                <a:solidFill>
                  <a:srgbClr val="000000"/>
                </a:solidFill>
                <a:latin typeface="Times New Roman"/>
                <a:ea typeface="Times New Roman"/>
                <a:cs typeface="Times New Roman"/>
                <a:sym typeface="Times New Roman"/>
              </a:rPr>
              <a:t> improvement</a:t>
            </a:r>
            <a:endParaRPr sz="1500">
              <a:solidFill>
                <a:srgbClr val="000000"/>
              </a:solidFill>
              <a:latin typeface="Times New Roman"/>
              <a:ea typeface="Times New Roman"/>
              <a:cs typeface="Times New Roman"/>
              <a:sym typeface="Times New Roman"/>
            </a:endParaRPr>
          </a:p>
          <a:p>
            <a:pPr indent="-323850" lvl="0" marL="457200" rtl="0" algn="l">
              <a:spcBef>
                <a:spcPts val="10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Techniques used combat overfitting</a:t>
            </a:r>
            <a:endParaRPr sz="1500">
              <a:solidFill>
                <a:srgbClr val="000000"/>
              </a:solidFill>
              <a:latin typeface="Times New Roman"/>
              <a:ea typeface="Times New Roman"/>
              <a:cs typeface="Times New Roman"/>
              <a:sym typeface="Times New Roman"/>
            </a:endParaRPr>
          </a:p>
          <a:p>
            <a:pPr indent="-323850" lvl="1" marL="9144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Baseline model was not extremely overfit</a:t>
            </a:r>
            <a:endParaRPr sz="1500">
              <a:solidFill>
                <a:srgbClr val="000000"/>
              </a:solidFill>
              <a:latin typeface="Times New Roman"/>
              <a:ea typeface="Times New Roman"/>
              <a:cs typeface="Times New Roman"/>
              <a:sym typeface="Times New Roman"/>
            </a:endParaRPr>
          </a:p>
          <a:p>
            <a:pPr indent="-323850" lvl="0" marL="457200" rtl="0" algn="l">
              <a:spcBef>
                <a:spcPts val="10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Lower end LLM models performed better than all models when classifying</a:t>
            </a:r>
            <a:endParaRPr sz="1500">
              <a:solidFill>
                <a:srgbClr val="000000"/>
              </a:solidFill>
              <a:latin typeface="Times New Roman"/>
              <a:ea typeface="Times New Roman"/>
              <a:cs typeface="Times New Roman"/>
              <a:sym typeface="Times New Roman"/>
            </a:endParaRPr>
          </a:p>
          <a:p>
            <a:pPr indent="-323850" lvl="1" marL="9144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Not locally run, costs involved</a:t>
            </a:r>
            <a:endParaRPr sz="1500">
              <a:solidFill>
                <a:srgbClr val="000000"/>
              </a:solidFill>
              <a:latin typeface="Times New Roman"/>
              <a:ea typeface="Times New Roman"/>
              <a:cs typeface="Times New Roman"/>
              <a:sym typeface="Times New Roman"/>
            </a:endParaRPr>
          </a:p>
          <a:p>
            <a:pPr indent="-323850" lvl="0" marL="457200" rtl="0" algn="l">
              <a:spcBef>
                <a:spcPts val="10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LLM consistently underestimated nutritional information</a:t>
            </a:r>
            <a:endParaRPr sz="1500">
              <a:solidFill>
                <a:srgbClr val="000000"/>
              </a:solidFill>
              <a:latin typeface="Times New Roman"/>
              <a:ea typeface="Times New Roman"/>
              <a:cs typeface="Times New Roman"/>
              <a:sym typeface="Times New Roman"/>
            </a:endParaRPr>
          </a:p>
          <a:p>
            <a:pPr indent="-323850" lvl="1" marL="9144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Image source site crashed during training</a:t>
            </a: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Lessons Learned</a:t>
            </a:r>
            <a:endParaRPr>
              <a:latin typeface="Times New Roman"/>
              <a:ea typeface="Times New Roman"/>
              <a:cs typeface="Times New Roman"/>
              <a:sym typeface="Times New Roman"/>
            </a:endParaRPr>
          </a:p>
        </p:txBody>
      </p:sp>
      <p:sp>
        <p:nvSpPr>
          <p:cNvPr id="179" name="Google Shape;179;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rgbClr val="0A0A0A"/>
                </a:solidFill>
                <a:latin typeface="Times New Roman"/>
                <a:ea typeface="Times New Roman"/>
                <a:cs typeface="Times New Roman"/>
                <a:sym typeface="Times New Roman"/>
              </a:rPr>
              <a:t>-	</a:t>
            </a:r>
            <a:r>
              <a:rPr lang="en" sz="1500">
                <a:solidFill>
                  <a:srgbClr val="0A0A0A"/>
                </a:solidFill>
                <a:latin typeface="Times New Roman"/>
                <a:ea typeface="Times New Roman"/>
                <a:cs typeface="Times New Roman"/>
                <a:sym typeface="Times New Roman"/>
              </a:rPr>
              <a:t>Time/compute required to train CNN Models</a:t>
            </a:r>
            <a:endParaRPr sz="1500">
              <a:solidFill>
                <a:srgbClr val="0A0A0A"/>
              </a:solidFill>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0A0A0A"/>
                </a:solidFill>
                <a:latin typeface="Times New Roman"/>
                <a:ea typeface="Times New Roman"/>
                <a:cs typeface="Times New Roman"/>
                <a:sym typeface="Times New Roman"/>
              </a:rPr>
              <a:t>-	Data </a:t>
            </a:r>
            <a:r>
              <a:rPr lang="en" sz="1500">
                <a:solidFill>
                  <a:srgbClr val="0A0A0A"/>
                </a:solidFill>
                <a:latin typeface="Times New Roman"/>
                <a:ea typeface="Times New Roman"/>
                <a:cs typeface="Times New Roman"/>
                <a:sym typeface="Times New Roman"/>
              </a:rPr>
              <a:t>augmentation</a:t>
            </a:r>
            <a:r>
              <a:rPr lang="en" sz="1500">
                <a:solidFill>
                  <a:srgbClr val="0A0A0A"/>
                </a:solidFill>
                <a:latin typeface="Times New Roman"/>
                <a:ea typeface="Times New Roman"/>
                <a:cs typeface="Times New Roman"/>
                <a:sym typeface="Times New Roman"/>
              </a:rPr>
              <a:t> and more fine-tuning layers</a:t>
            </a:r>
            <a:endParaRPr sz="1500">
              <a:solidFill>
                <a:srgbClr val="0A0A0A"/>
              </a:solidFill>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0A0A0A"/>
                </a:solidFill>
                <a:latin typeface="Times New Roman"/>
                <a:ea typeface="Times New Roman"/>
                <a:cs typeface="Times New Roman"/>
                <a:sym typeface="Times New Roman"/>
              </a:rPr>
              <a:t>-	Remove early stopping or increase patience</a:t>
            </a:r>
            <a:endParaRPr sz="1500">
              <a:solidFill>
                <a:srgbClr val="0A0A0A"/>
              </a:solidFill>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0A0A0A"/>
                </a:solidFill>
                <a:latin typeface="Times New Roman"/>
                <a:ea typeface="Times New Roman"/>
                <a:cs typeface="Times New Roman"/>
                <a:sym typeface="Times New Roman"/>
              </a:rPr>
              <a:t>-	AI is good at classification, poor at estimation</a:t>
            </a:r>
            <a:endParaRPr sz="1500">
              <a:solidFill>
                <a:srgbClr val="0A0A0A"/>
              </a:solidFill>
              <a:latin typeface="Times New Roman"/>
              <a:ea typeface="Times New Roman"/>
              <a:cs typeface="Times New Roman"/>
              <a:sym typeface="Times New Roman"/>
            </a:endParaRPr>
          </a:p>
          <a:p>
            <a:pPr indent="0" lvl="0" marL="0" rtl="0" algn="l">
              <a:spcBef>
                <a:spcPts val="1200"/>
              </a:spcBef>
              <a:spcAft>
                <a:spcPts val="1200"/>
              </a:spcAft>
              <a:buNone/>
            </a:pPr>
            <a:r>
              <a:rPr lang="en" sz="1500">
                <a:solidFill>
                  <a:srgbClr val="0A0A0A"/>
                </a:solidFill>
                <a:latin typeface="Times New Roman"/>
                <a:ea typeface="Times New Roman"/>
                <a:cs typeface="Times New Roman"/>
                <a:sym typeface="Times New Roman"/>
              </a:rPr>
              <a:t>-	Image Resolution </a:t>
            </a:r>
            <a:r>
              <a:rPr lang="en" sz="1500">
                <a:solidFill>
                  <a:srgbClr val="0A0A0A"/>
                </a:solidFill>
                <a:latin typeface="Times New Roman"/>
                <a:ea typeface="Times New Roman"/>
                <a:cs typeface="Times New Roman"/>
                <a:sym typeface="Times New Roman"/>
              </a:rPr>
              <a:t>improvement</a:t>
            </a:r>
            <a:r>
              <a:rPr lang="en" sz="1500">
                <a:solidFill>
                  <a:srgbClr val="0A0A0A"/>
                </a:solidFill>
                <a:latin typeface="Times New Roman"/>
                <a:ea typeface="Times New Roman"/>
                <a:cs typeface="Times New Roman"/>
                <a:sym typeface="Times New Roman"/>
              </a:rPr>
              <a:t> might not be worth the resources</a:t>
            </a:r>
            <a:endParaRPr sz="1500">
              <a:solidFill>
                <a:srgbClr val="0A0A0A"/>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Conclusion </a:t>
            </a:r>
            <a:endParaRPr>
              <a:latin typeface="Times New Roman"/>
              <a:ea typeface="Times New Roman"/>
              <a:cs typeface="Times New Roman"/>
              <a:sym typeface="Times New Roman"/>
            </a:endParaRPr>
          </a:p>
        </p:txBody>
      </p:sp>
      <p:sp>
        <p:nvSpPr>
          <p:cNvPr id="185" name="Google Shape;185;p27"/>
          <p:cNvSpPr txBox="1"/>
          <p:nvPr>
            <p:ph idx="1" type="body"/>
          </p:nvPr>
        </p:nvSpPr>
        <p:spPr>
          <a:xfrm>
            <a:off x="729450" y="2078875"/>
            <a:ext cx="7688700" cy="28170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500">
                <a:solidFill>
                  <a:srgbClr val="0A0A0A"/>
                </a:solidFill>
                <a:latin typeface="Times New Roman"/>
                <a:ea typeface="Times New Roman"/>
                <a:cs typeface="Times New Roman"/>
                <a:sym typeface="Times New Roman"/>
              </a:rPr>
              <a:t>Hyperparameter tuning does not </a:t>
            </a:r>
            <a:r>
              <a:rPr lang="en" sz="1500">
                <a:solidFill>
                  <a:srgbClr val="0A0A0A"/>
                </a:solidFill>
                <a:latin typeface="Times New Roman"/>
                <a:ea typeface="Times New Roman"/>
                <a:cs typeface="Times New Roman"/>
                <a:sym typeface="Times New Roman"/>
              </a:rPr>
              <a:t>guarantee</a:t>
            </a:r>
            <a:r>
              <a:rPr lang="en" sz="1500">
                <a:solidFill>
                  <a:srgbClr val="0A0A0A"/>
                </a:solidFill>
                <a:latin typeface="Times New Roman"/>
                <a:ea typeface="Times New Roman"/>
                <a:cs typeface="Times New Roman"/>
                <a:sym typeface="Times New Roman"/>
              </a:rPr>
              <a:t> improvements in performance</a:t>
            </a:r>
            <a:r>
              <a:rPr lang="en" sz="1500">
                <a:solidFill>
                  <a:srgbClr val="0A0A0A"/>
                </a:solidFill>
                <a:latin typeface="Times New Roman"/>
                <a:ea typeface="Times New Roman"/>
                <a:cs typeface="Times New Roman"/>
                <a:sym typeface="Times New Roman"/>
              </a:rPr>
              <a:t>.</a:t>
            </a:r>
            <a:endParaRPr sz="1500">
              <a:solidFill>
                <a:srgbClr val="0A0A0A"/>
              </a:solidFill>
              <a:latin typeface="Times New Roman"/>
              <a:ea typeface="Times New Roman"/>
              <a:cs typeface="Times New Roman"/>
              <a:sym typeface="Times New Roman"/>
            </a:endParaRPr>
          </a:p>
          <a:p>
            <a:pPr indent="-323850" lvl="0" marL="457200" rtl="0" algn="l">
              <a:lnSpc>
                <a:spcPct val="150000"/>
              </a:lnSpc>
              <a:spcBef>
                <a:spcPts val="120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Hyperparameter tuning is a very resource demanding process. Are the hours spent tuning and training the model worth minimal gains in performance?</a:t>
            </a:r>
            <a:endParaRPr sz="1500">
              <a:solidFill>
                <a:srgbClr val="0A0A0A"/>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Noise in real world images will limit accurate classification. Impossible to solve this completely. </a:t>
            </a:r>
            <a:endParaRPr sz="1500">
              <a:solidFill>
                <a:srgbClr val="0A0A0A"/>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rgbClr val="0A0A0A"/>
              </a:buClr>
              <a:buSzPts val="1500"/>
              <a:buFont typeface="Times New Roman"/>
              <a:buChar char="-"/>
            </a:pPr>
            <a:r>
              <a:rPr lang="en" sz="1500">
                <a:solidFill>
                  <a:srgbClr val="0A0A0A"/>
                </a:solidFill>
                <a:latin typeface="Times New Roman"/>
                <a:ea typeface="Times New Roman"/>
                <a:cs typeface="Times New Roman"/>
                <a:sym typeface="Times New Roman"/>
              </a:rPr>
              <a:t>All fine-tuning hyperparameter techniques have practical use case where improvements can effect model performance </a:t>
            </a:r>
            <a:endParaRPr sz="1500">
              <a:solidFill>
                <a:srgbClr val="0A0A0A"/>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191" name="Google Shape;191;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[1]. Samuel D. Emmerich, D.V.M., Cheryl D. Fryar, M.S.P.H., Bryan Stierman, M.D., M.P.H., and Cynthia L. Ogden, Ph.D., M.R.P. Centers for Disease Control and Prevention. Obesity and severe obesity prevalence in adults: United States, August 2021–August 2023 [Internet]. CDC.gov. CDC; 2024 [cited 2025 Sep 14]. Available from: </a:t>
            </a:r>
            <a:r>
              <a:rPr lang="en" sz="65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https://www.cdc.gov/nchs/products/databriefs/db508.htm</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[2]. Charlotte, NC - Metric Detail | City health dashboard [Internet]. Cityhealthdashboard.com. 2025 [cited 2025 Sep 14]. Available from: </a:t>
            </a:r>
            <a:r>
              <a:rPr lang="en" sz="65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https://www.cityhealthdashboard.com/NC/Charlotte/metric-detail?metricId=17&amp;dataPeriod=2022</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[3]. AI food scanner turns phone photos into nutritional analysis | NYU Tandon School of Engineering [Internet]. Nyu.edu. 2025 [cited 2025 Sep 14]. Available from: </a:t>
            </a:r>
            <a:r>
              <a:rPr lang="en" sz="65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https://engineering.nyu.edu/news/ai-food-scanner-turns-phone-photos-nutritional-analysis</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[4]. ​​Alessio A, Alessia R, Bianchetti G, Serantoni C, De Spirito M, Stefano C, et al. Digital applications for diet monitoring, planning, and precision nutrition for citizens and professionals: a state of the art. Nutrition reviews. 2024  [cited 2025 Sep 14]. Available from: </a:t>
            </a:r>
            <a:r>
              <a:rPr lang="en" sz="65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https://academic.oup.com/nutritionreviews/article/83/2/e574/7667651</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[5]. Foodvisor App | Calorie counter - eat healthy &amp; lose weight [Internet]. foodvisor.io. 2025 [cited 2025 Sep 14]. Available from: </a:t>
            </a:r>
            <a:r>
              <a:rPr lang="en" sz="65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https://www.foodvisor.io/en/</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[6]. Food image recognition explained [Internet]. Foodvisor. 2025 [cited 2025 Sep 14]. Available from: </a:t>
            </a:r>
            <a:r>
              <a:rPr lang="en" sz="65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https://www.foodvisor.io/en/guides/article/food-image-recognition-explained/</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[7]. Cal AI [Internet]. Calai.app. 2024 [cited 2025 Sep 14]. Available from: </a:t>
            </a:r>
            <a:r>
              <a:rPr lang="en" sz="650" u="sng">
                <a:solidFill>
                  <a:srgbClr val="1155CC"/>
                </a:solidFill>
                <a:latin typeface="Times New Roman"/>
                <a:ea typeface="Times New Roman"/>
                <a:cs typeface="Times New Roman"/>
                <a:sym typeface="Times New Roman"/>
                <a:hlinkClick r:id="rId9">
                  <a:extLst>
                    <a:ext uri="{A12FA001-AC4F-418D-AE19-62706E023703}">
                      <ahyp:hlinkClr val="tx"/>
                    </a:ext>
                  </a:extLst>
                </a:hlinkClick>
              </a:rPr>
              <a:t>https://www.calai.app/</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[8]. Bort J. Photo calorie app Cal AI, downloaded over a million times, was built by two teenagers | TechCrunch [Internet]. TechCrunch. 2025 [cited 2025 Sep 14]. Available from: </a:t>
            </a:r>
            <a:r>
              <a:rPr lang="en" sz="650" u="sng">
                <a:solidFill>
                  <a:srgbClr val="1155CC"/>
                </a:solidFill>
                <a:latin typeface="Times New Roman"/>
                <a:ea typeface="Times New Roman"/>
                <a:cs typeface="Times New Roman"/>
                <a:sym typeface="Times New Roman"/>
                <a:hlinkClick r:id="rId10">
                  <a:extLst>
                    <a:ext uri="{A12FA001-AC4F-418D-AE19-62706E023703}">
                      <ahyp:hlinkClr val="tx"/>
                    </a:ext>
                  </a:extLst>
                </a:hlinkClick>
              </a:rPr>
              <a:t>https://techcrunch.com/2025/03/16/photo-calorie-app-cal-ai-downloaded-over-a-million-times-was-built-by-two-teenagers/</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[9]. Tahir G, Loo CK. A comprehensive survey of image-based food recognition and volume estimation methods for dietary assessment [Internet]. arXiv.org. 2021 [cited 2025 Sep 14]. Available from: </a:t>
            </a:r>
            <a:r>
              <a:rPr lang="en" sz="650" u="sng">
                <a:solidFill>
                  <a:srgbClr val="1155CC"/>
                </a:solidFill>
                <a:latin typeface="Times New Roman"/>
                <a:ea typeface="Times New Roman"/>
                <a:cs typeface="Times New Roman"/>
                <a:sym typeface="Times New Roman"/>
                <a:hlinkClick r:id="rId11">
                  <a:extLst>
                    <a:ext uri="{A12FA001-AC4F-418D-AE19-62706E023703}">
                      <ahyp:hlinkClr val="tx"/>
                    </a:ext>
                  </a:extLst>
                </a:hlinkClick>
              </a:rPr>
              <a:t>https://arxiv.org/abs/2106.11776</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[10]. Ghosh T, Sazonov E. Improving food image recognition with noisy vision transformer [Internet]. arXiv.org. 2025 [cited 2025 Sep 14]. Available from: </a:t>
            </a:r>
            <a:r>
              <a:rPr lang="en" sz="650" u="sng">
                <a:solidFill>
                  <a:srgbClr val="1155CC"/>
                </a:solidFill>
                <a:latin typeface="Times New Roman"/>
                <a:ea typeface="Times New Roman"/>
                <a:cs typeface="Times New Roman"/>
                <a:sym typeface="Times New Roman"/>
                <a:hlinkClick r:id="rId12">
                  <a:extLst>
                    <a:ext uri="{A12FA001-AC4F-418D-AE19-62706E023703}">
                      <ahyp:hlinkClr val="tx"/>
                    </a:ext>
                  </a:extLst>
                </a:hlinkClick>
              </a:rPr>
              <a:t>https://arxiv.org/abs/2503.18997</a:t>
            </a:r>
            <a:endParaRPr sz="65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605"/>
              <a:buNone/>
            </a:pPr>
            <a:r>
              <a:t/>
            </a:r>
            <a:endParaRPr sz="650">
              <a:solidFill>
                <a:srgbClr val="000000"/>
              </a:solidFill>
              <a:latin typeface="Times New Roman"/>
              <a:ea typeface="Times New Roman"/>
              <a:cs typeface="Times New Roman"/>
              <a:sym typeface="Times New Roman"/>
            </a:endParaRPr>
          </a:p>
          <a:p>
            <a:pPr indent="0" lvl="0" marL="0" rtl="0" algn="l">
              <a:lnSpc>
                <a:spcPct val="105000"/>
              </a:lnSpc>
              <a:spcBef>
                <a:spcPts val="0"/>
              </a:spcBef>
              <a:spcAft>
                <a:spcPts val="0"/>
              </a:spcAft>
              <a:buSzPts val="605"/>
              <a:buNone/>
            </a:pPr>
            <a:r>
              <a:rPr lang="en" sz="650">
                <a:solidFill>
                  <a:srgbClr val="000000"/>
                </a:solidFill>
                <a:latin typeface="Times New Roman"/>
                <a:ea typeface="Times New Roman"/>
                <a:cs typeface="Times New Roman"/>
                <a:sym typeface="Times New Roman"/>
              </a:rPr>
              <a:t>[11]. Yash Paliwal. Understanding retrieval-augmented generation (RAG) in generative AI: An Overview [Internet]. Medium. 2024 [cited 2025 Sep 15]. Available from: </a:t>
            </a:r>
            <a:r>
              <a:rPr lang="en" sz="650" u="sng">
                <a:solidFill>
                  <a:srgbClr val="1155CC"/>
                </a:solidFill>
                <a:latin typeface="Times New Roman"/>
                <a:ea typeface="Times New Roman"/>
                <a:cs typeface="Times New Roman"/>
                <a:sym typeface="Times New Roman"/>
                <a:hlinkClick r:id="rId13">
                  <a:extLst>
                    <a:ext uri="{A12FA001-AC4F-418D-AE19-62706E023703}">
                      <ahyp:hlinkClr val="tx"/>
                    </a:ext>
                  </a:extLst>
                </a:hlinkClick>
              </a:rPr>
              <a:t>https://medium.com/@yashpaliwal42/understanding-retrieval-augmented-generation-rag-in-generative-ai-an-overview-914ef820d0f0</a:t>
            </a:r>
            <a:endParaRPr sz="815"/>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